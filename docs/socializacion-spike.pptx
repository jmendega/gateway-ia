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7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04F8A"/>
          </a:solidFill>
          <a:ln w="12700">
            <a:solidFill>
              <a:srgbClr val="00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07792"/>
            <a:ext cx="9144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Solo.io — Spike Tecnico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 |  Practice Digital &amp; Innovation  |  Abril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75488" cy="43891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868680"/>
            <a:ext cx="7818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8686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un AI Gateway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490472"/>
            <a:ext cx="475488" cy="43891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904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0120" y="1490472"/>
            <a:ext cx="7818120" cy="43891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49047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Solo.io AI Gateway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112264"/>
            <a:ext cx="475488" cy="43891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12264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" y="2112264"/>
            <a:ext cx="7818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11226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evaluadas en el spike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734056"/>
            <a:ext cx="475488" cy="43891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3405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120" y="2734056"/>
            <a:ext cx="7818120" cy="43891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73405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para NTT DATA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355848"/>
            <a:ext cx="475488" cy="43891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5584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120" y="3355848"/>
            <a:ext cx="7818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35584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 y riesgos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475488" cy="43891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7764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0120" y="3977640"/>
            <a:ext cx="7818120" cy="43891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9776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 y proximos pasos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LLMs en produccion sin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411480"/>
          </a:xfrm>
          <a:prstGeom prst="rect">
            <a:avLst/>
          </a:prstGeom>
          <a:solidFill>
            <a:srgbClr val="FFF0E8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49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conecta directamente a OpenAI con su propia API key — sin control centralizado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98448"/>
            <a:ext cx="64008" cy="658368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de costos por equipo o proyecto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57400"/>
            <a:ext cx="64008" cy="658368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57400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proteccion de datos sensibles en los prompts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16352"/>
            <a:ext cx="64008" cy="658368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16352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alta disponibilidad si OpenAI falla o tiene rate limits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9844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98448"/>
            <a:ext cx="64008" cy="658368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298448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reutilizacion de respuestas para consultas similares (costo repetido)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057400"/>
            <a:ext cx="64008" cy="658368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057400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estandar de acceso ni gobernanza entre proyectos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816352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16352"/>
            <a:ext cx="64008" cy="658368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816352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auditoria ni trazabilidad de las llamadas AI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549140"/>
            <a:ext cx="9144000" cy="347472"/>
          </a:xfrm>
          <a:prstGeom prst="rect">
            <a:avLst/>
          </a:prstGeom>
          <a:solidFill>
            <a:srgbClr val="3A1010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5491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costos impredecibles, riesgo de seguridad y cero gobernanza sobre el uso de IA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solucion: Un gateway centralizado para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centraliza el acceso a APIs... pero disenado especificamente para LLMs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1828800" cy="1645920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
</a:t>
            </a:r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691640"/>
            <a:ext cx="548640" cy="4572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691640"/>
            <a:ext cx="548640" cy="4572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463040"/>
            <a:ext cx="45720" cy="64008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005840"/>
            <a:ext cx="2286000" cy="224028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005840"/>
            <a:ext cx="22860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Solo.io kgateway
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Rate Limiting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Prompt Guards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Cache Semantico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RAG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Failover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Observabilidad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45720" cy="64008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691640"/>
            <a:ext cx="457200" cy="457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1417320"/>
            <a:ext cx="457200" cy="457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965960"/>
            <a:ext cx="457200" cy="457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1005840"/>
            <a:ext cx="1965960" cy="2240280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005840"/>
            <a:ext cx="19659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LLM
</a:t>
            </a:r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Azure, Gemini,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Bedrock, Mistral)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3832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383280"/>
            <a:ext cx="2743200" cy="27432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centralizado de acceso, costos y politicas para todos los equipos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3832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383280"/>
            <a:ext cx="2743200" cy="27432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Proteccion de datos antes de llegar al proveedor externo (PII, injection)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3832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3383280"/>
            <a:ext cx="2743200" cy="27432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semantico y failover reducen costos y mejoran disponibilidad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Solo.io AI Gateway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389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4389120" cy="32004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tecnicos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Envoy Proxy (estandar CNCF, usado en Istio, AWS App Mesh)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Kubernetes Gateway API v1.2.0 (estandar CNCF)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Enterprise de kgateway (open source en GitHub)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on-premise — datos NO salen a infra de Solo.io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749808"/>
            <a:ext cx="3931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749808"/>
            <a:ext cx="3931920" cy="32004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749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1133856"/>
            <a:ext cx="64008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1338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87568" y="11338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Proxy + AI Extension (filtros LLM)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472184"/>
            <a:ext cx="64008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4721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87568" y="1472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kgateway controller (traduce CRDs a Envoy)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1810512"/>
            <a:ext cx="64008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810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87568" y="1810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Stack (cache semantico vectorial)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83480" y="2148840"/>
            <a:ext cx="64008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148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87568" y="2148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(base de conocimiento)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487168"/>
            <a:ext cx="64008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87568" y="2487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Collector + Prometheus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063240"/>
            <a:ext cx="8503920" cy="822960"/>
          </a:xfrm>
          <a:prstGeom prst="rect">
            <a:avLst/>
          </a:prstGeom>
          <a:solidFill>
            <a:srgbClr val="FFF8E8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063240"/>
            <a:ext cx="64008" cy="82296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063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Enterprise requerida 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las capacidades AI (rate limiting por tokens, prompt guards, cache semantico, RAG).
</a:t>
            </a:r>
            <a:pPr indent="0" marL="0">
              <a:buNone/>
            </a:pPr>
            <a:r>
              <a:rPr lang="en-US" sz="1100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gratuito de 30 dias disponible: https://www.solo.io/free-trial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capacidades evaluadas en el spike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64008" cy="118872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778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 Multi-LLM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5214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y Anthropic en el mismo spike. Header-based routing + traffic splitting 80/20. Cambio de proveedor sin tocar el cliente.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64008" cy="118872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8778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por Tokens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3752" y="115214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 requests sino por tokens reales consumidos. Limites de 50k tokens/hora por usuario. Proteccion denial-of-wallet.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30552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30552"/>
            <a:ext cx="64008" cy="11887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037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Guards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47802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tarjetas de credito, emails y prompt injection ANTES del LLM. Enmascarado de PII en respuestas. &lt;1ms de overhead.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130552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30552"/>
            <a:ext cx="64008" cy="118872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2037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Semantico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3752" y="247802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vectoriales detectan preguntas similares. Umbral 92% de similitud. Hit rate esperado: 40-60% en FAQs.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456432"/>
            <a:ext cx="64008" cy="118872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5295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Integrado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38039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conocimiento corporativa en PostgreSQL+pgvector. Transparente para los clientes. Un solo punto de mantenimiento.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456432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456432"/>
            <a:ext cx="64008" cy="11887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5295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38039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 (Time to First Token), tokens por usuario/modelo, cache hit rate. OpenTelemetry + Prometheus + Grafana.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 Multi-Proveedor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API, multiples LLMs — sin cambiar el cliente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2834640" cy="45720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(Primario)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del trafico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25786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preferido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calidad y velocidad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a Anthropic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error 429 / 5xx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4992" y="109728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1097280"/>
            <a:ext cx="2834640" cy="4572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115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(Failover)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6432" y="1371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del trafico / failover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2152" y="1600200"/>
            <a:ext cx="25786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claude-3-5-sonnet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alternativo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alta calidad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Activado automaticamente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error de OpenAI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9944" y="109728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9944" y="1097280"/>
            <a:ext cx="2834640" cy="45720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1115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Soportados tambien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01384" y="1371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del producto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47104" y="1600200"/>
            <a:ext cx="25786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3977640"/>
            <a:ext cx="9144000" cy="566928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776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x-llm-provider   </a:t>
            </a:r>
            <a:pPr indent="0" marL="0">
              <a:buNone/>
            </a:pPr>
            <a:r>
              <a:rPr lang="en-US" sz="1100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Traffic splitting con pesos   |   Failover en 429/5xx   |   Cambio de proveedor SIN modificar el cliente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Basado en Tokens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31520"/>
            <a:ext cx="8503920" cy="347472"/>
          </a:xfrm>
          <a:prstGeom prst="rect">
            <a:avLst/>
          </a:prstGeom>
          <a:solidFill>
            <a:srgbClr val="FFF0E8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Proteccion Denial-of-Wallet: 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gasto real en tokens, no solo el numero de llamadas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3931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70432"/>
            <a:ext cx="3931920" cy="347472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con rate limits tradicionales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3657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A: 10 tokens → $0.0001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B: 10,000 tokens → $0.10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cuentan como 1 request...
pero el costo difiere x1000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rate limiting tradicional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el presupuesto real.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170432"/>
            <a:ext cx="4251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70432"/>
            <a:ext cx="4251960" cy="34747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7043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solucion con token-based limits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4069080" cy="502920"/>
          </a:xfrm>
          <a:prstGeom prst="rect">
            <a:avLst/>
          </a:prstGeom>
          <a:solidFill>
            <a:srgbClr val="EAF7EA"/>
          </a:solidFill>
          <a:ln w="12700">
            <a:solidFill>
              <a:srgbClr val="C3E6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627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tokens entrada / hora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1856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usuario (header x-user-id)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176272"/>
            <a:ext cx="4069080" cy="502920"/>
          </a:xfrm>
          <a:prstGeom prst="rect">
            <a:avLst/>
          </a:prstGeom>
          <a:solidFill>
            <a:srgbClr val="EAF7EA"/>
          </a:solidFill>
          <a:ln w="12700">
            <a:solidFill>
              <a:srgbClr val="C3E6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203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tokens salida / hora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4323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usuario (header x-user-id)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752344"/>
            <a:ext cx="4069080" cy="502920"/>
          </a:xfrm>
          <a:prstGeom prst="rect">
            <a:avLst/>
          </a:prstGeom>
          <a:solidFill>
            <a:srgbClr val="EAF7EA"/>
          </a:solidFill>
          <a:ln w="12700">
            <a:solidFill>
              <a:srgbClr val="C3E6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779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tokens / minuto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30083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global de burst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328416"/>
            <a:ext cx="4069080" cy="502920"/>
          </a:xfrm>
          <a:prstGeom prst="rect">
            <a:avLst/>
          </a:prstGeom>
          <a:solidFill>
            <a:srgbClr val="EAF7EA"/>
          </a:solidFill>
          <a:ln w="12700">
            <a:solidFill>
              <a:srgbClr val="C3E6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355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requests / minuto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35844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tradicional compatible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Guards — Seguridad del Contenido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gateway actua como primera linea de defensa ANTES de llegar al LLM — sin cambios en las aplicaciones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251960" cy="365760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BLOQUEA en solicitudes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4251960" cy="36576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15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ENMASCARA en respuestas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53619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Numeros de tarjeta de credito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536192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53619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Numeros de tarjeta de credito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20240"/>
            <a:ext cx="4251960" cy="34747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1920240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de email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4251960" cy="34747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920240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de email en respuesta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04288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30428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(ignore previous instructions...)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04288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30428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(cualquier PII generada por el LLM)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688336"/>
            <a:ext cx="4251960" cy="34747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68833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/ passwords expuestos en el prompt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688336"/>
            <a:ext cx="4251960" cy="34747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68833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072384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07238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jailbreak (DAN mode, etc.)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072384"/>
            <a:ext cx="4251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07238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493008"/>
            <a:ext cx="8503920" cy="804672"/>
          </a:xfrm>
          <a:prstGeom prst="rect">
            <a:avLst/>
          </a:prstGeom>
          <a:solidFill>
            <a:srgbClr val="F0F8FF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9300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Solicitud: "Mi tarjeta es 4111-1111-1111-1111, ayudame con mi compra"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del gateway: </a:t>
            </a:r>
            <a:pPr indent="0" marL="0">
              <a:buNone/>
            </a:pPr>
            <a:r>
              <a:rPr lang="en-US" sz="105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 — "Solicitud bloqueada por politica de seguridad de datos"  </a:t>
            </a:r>
            <a:pPr indent="0" marL="0">
              <a:buNone/>
            </a:pPr>
            <a:r>
              <a:rPr lang="en-US" sz="10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(&lt;1ms, sin llamar al LLM, sin costo)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Semantico — Optimizacion de Costos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cache exacto — entiende el significado semantico de las preguntas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53312" y="1005840"/>
            <a:ext cx="548640" cy="548640"/>
          </a:xfrm>
          <a:prstGeom prst="oval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usuario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"Cuantos dias tiene un anio?"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0" y="1719072"/>
            <a:ext cx="228600" cy="54864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078992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87952" y="1005840"/>
            <a:ext cx="548640" cy="548640"/>
          </a:xfrm>
          <a:prstGeom prst="oval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7952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vectoriza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19019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embedding con text-embedding-3-small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1719072"/>
            <a:ext cx="228600" cy="54864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078992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22592" y="1005840"/>
            <a:ext cx="548640" cy="548640"/>
          </a:xfrm>
          <a:prstGeom prst="oval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80760" y="1600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 en Redis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19019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con respuestas cacheadas (umbral 92%)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633472"/>
            <a:ext cx="40690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107C1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633472"/>
            <a:ext cx="4069080" cy="34747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6334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(similitud &gt; 92%)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0175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en &lt;10ms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llamar al LLM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633472"/>
            <a:ext cx="40690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3B0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633472"/>
            <a:ext cx="4069080" cy="347472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6334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(similitud &lt; 92%)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30175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al LLM normalmente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respuesta en Redis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 pregunta similar: HIT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2633472"/>
            <a:ext cx="365760" cy="135331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2633472"/>
            <a:ext cx="3657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4549140"/>
            <a:ext cx="9144000" cy="338328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549140"/>
            <a:ext cx="8595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 en FAQs y soporte: 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40-60% de llamadas al LLM eliminadas → ahorro directo en costos de API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 el Gateway — Conocimiento Corporativo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 para todas las aplicaciones — sin cambios en el cliente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4114800" cy="384048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RAG en el gateway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38404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"Explica la politica de vacaciones de NTT DATA"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no tiene esta informacion.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probable: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tengo acceso a las politicas internas de NTT DATA" o, peor, inventa una respuesta incorrecta.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3E6C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RAG en el gateway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28032" y="1536192"/>
            <a:ext cx="385876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"Explica la politica de vacaciones de NTT DATA"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gateway: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Vectoriza la pregunta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Recupera fragmentos de PostgreSQL (pgvector)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Enriquece el prompt con el contexto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 LLM responde con informacion real de la empresa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no ve ningun cambio en como hace la solicitud.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4549140"/>
            <a:ext cx="9144000" cy="338328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549140"/>
            <a:ext cx="8595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vs RAG en la app: 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 de conocimiento y un solo punto de mantenimiento para todos los proyectos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Especifica de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un API Gateway tradicional NO puede decirte sobre tus LLMs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3931920" cy="34747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1078992"/>
            <a:ext cx="4480560" cy="34747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0789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que responde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481328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481328"/>
            <a:ext cx="4480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813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ai_gateway_tokens_input_total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62272" y="148132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¿Quien consume mas presupuesto de prompts?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956816"/>
            <a:ext cx="3931920" cy="43891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956816"/>
            <a:ext cx="4480560" cy="43891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568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ai_gateway_tokens_output_total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62272" y="195681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modelo es mas verboso / costoso?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432304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2432304"/>
            <a:ext cx="4480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4323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ai_gateway_ttft_ms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62272" y="243230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tan rapido percibe el usuario la respuesta (streaming)?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07792"/>
            <a:ext cx="3931920" cy="43891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2907792"/>
            <a:ext cx="4480560" cy="43891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077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ai_gateway_cache_hit_total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62272" y="29077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¿Cuanto estamos ahorrando con el cache semantico?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383280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383280"/>
            <a:ext cx="4480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3832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ai_gateway_prompt_guard_rejections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62272" y="33832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¿Cuantos intentos de datos sensibles se bloquearon?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913632"/>
            <a:ext cx="8503920" cy="502920"/>
          </a:xfrm>
          <a:prstGeom prst="rect">
            <a:avLst/>
          </a:prstGeom>
          <a:solidFill>
            <a:srgbClr val="D5E8F0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136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observabilidad: 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Collector  →  Prometheus  →  Grafana Dashboards  +  Jaeger (trazas distribuidas)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para NTT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4251960" cy="34747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046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Interna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197864"/>
            <a:ext cx="40416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el acceso de todos los proyectos PDI a LLMs bajo una sola plataforma con gobernanza, auditoria y control de costos unificados. Elimina la proliferacion de API keys por proyecto.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4251960" cy="34747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046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Datos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197864"/>
            <a:ext cx="40416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protection obligatoria en todos los prompts sin necesidad de modificar las aplicaciones clientes. El gateway actua como guardia de datos de manera transparente para todos los equipos.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23160"/>
            <a:ext cx="4251960" cy="347472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231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Costos por Cliente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" y="2816352"/>
            <a:ext cx="40416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por proyecto o cuenta facturable para servicios AI prestados a clientes de NTT DATA. Cada proyecto tiene su presupuesto de tokens garantizado y medido independientemente.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423160"/>
            <a:ext cx="4251960" cy="347472"/>
          </a:xfrm>
          <a:prstGeom prst="rect">
            <a:avLst/>
          </a:prstGeom>
          <a:solidFill>
            <a:srgbClr val="5B2DA8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4231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 Servicio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2816352"/>
            <a:ext cx="40416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automatico entre OpenAI y Anthropic garantiza disponibilidad del servicio AI incluso cuando un proveedor tiene incidentes o rate limits. SLA mejorado sin complejidad en las apps.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 y Riesgos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2560320" cy="34747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749808"/>
            <a:ext cx="2286000" cy="34747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0" y="749808"/>
            <a:ext cx="3474720" cy="34747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498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749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749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152144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1152144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152144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1521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Enterprise (costo)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63240" y="115214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adicional requerido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1152144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ROI: ahorro en costos LLM vs costo de licencia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828800"/>
            <a:ext cx="2560320" cy="62179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1828800"/>
            <a:ext cx="2286000" cy="62179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1828800"/>
            <a:ext cx="3474720" cy="62179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8288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Kubernetes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63240" y="18288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infra K8s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182880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o Kind para entornos menores; GKE/AKS para prod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505456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505456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2505456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50545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adicional por filtros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63240" y="250545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+2-5ms por filtro activo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0680" y="2505456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 vs latencia LLM de 500ms-5s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182112"/>
            <a:ext cx="2560320" cy="62179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182112"/>
            <a:ext cx="2286000" cy="62179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49240" y="3182112"/>
            <a:ext cx="3474720" cy="621792"/>
          </a:xfrm>
          <a:prstGeom prst="rect">
            <a:avLst/>
          </a:prstGeom>
          <a:solidFill>
            <a:srgbClr val="EBF3FA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1821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63240" y="318211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infra debe aprender CRDs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40680" y="3182112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Documentacion en este spike + capacitacion de 1 dia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858768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71800" y="3858768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49240" y="3858768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8587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no soportado en Gemini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063240" y="3858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 version 2.2.0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40680" y="3858768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RAG en la aplicacion para ese proveedor especifico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 y Proximos Pasos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| Practice Digital &amp; Innovation | Abril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713232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7498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para adopcion en proyectos PDI con multiples consumidores de LLM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7498080" cy="54864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93392"/>
            <a:ext cx="493776" cy="493776"/>
          </a:xfrm>
          <a:prstGeom prst="oval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" y="26700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licencia trial extendida con Solo.io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17520" y="1993392"/>
            <a:ext cx="493776" cy="493776"/>
          </a:xfrm>
          <a:prstGeom prst="oval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14600" y="26060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87752" y="26700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06040" y="297180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en un proyecto real de PDI con trafico real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0" y="1993392"/>
            <a:ext cx="493776" cy="493776"/>
          </a:xfrm>
          <a:prstGeom prst="oval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26280" y="26060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99432" y="26700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7-8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297180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estandar de acceso AI para la practica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1993392"/>
            <a:ext cx="493776" cy="493776"/>
          </a:xfrm>
          <a:prstGeom prst="oval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37960" y="26060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11112" y="26700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9+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29400" y="297180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Capacitacion del equipo de plataforma e infraestructura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67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2125980"/>
          </a:xfrm>
          <a:prstGeom prst="rect">
            <a:avLst/>
          </a:prstGeom>
          <a:solidFill>
            <a:srgbClr val="004F8A"/>
          </a:solidFill>
          <a:ln w="12700">
            <a:solidFill>
              <a:srgbClr val="00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99232"/>
            <a:ext cx="9144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 |  Practice Digital &amp; Innovation  |  Abril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C:\NTTDATA\PDI\gateway-ia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guia-implementacion.docx  |  capacidades-gateway.docx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Solo.io: https://www.solo.io/free-trial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Gateway — Solo.io Spike Tecnico</dc:title>
  <dc:subject>PptxGenJS Presentation</dc:subject>
  <dc:creator>NTT DATA PDI</dc:creator>
  <cp:lastModifiedBy>NTT DATA PDI</cp:lastModifiedBy>
  <cp:revision>1</cp:revision>
  <dcterms:created xsi:type="dcterms:W3CDTF">2026-04-21T21:00:10Z</dcterms:created>
  <dcterms:modified xsi:type="dcterms:W3CDTF">2026-04-21T21:00:10Z</dcterms:modified>
</cp:coreProperties>
</file>